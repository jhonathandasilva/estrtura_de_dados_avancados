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4" r:id="rId5"/>
    <p:sldId id="260" r:id="rId6"/>
    <p:sldId id="266" r:id="rId7"/>
    <p:sldId id="261" r:id="rId8"/>
    <p:sldId id="262" r:id="rId9"/>
    <p:sldId id="263" r:id="rId10"/>
    <p:sldId id="265" r:id="rId11"/>
    <p:sldId id="267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EE621B-E0DD-4FD3-9C05-2552B7CF3D85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FB7B917-7803-4086-852F-272D58C64094}">
      <dgm:prSet/>
      <dgm:spPr/>
      <dgm:t>
        <a:bodyPr/>
        <a:lstStyle/>
        <a:p>
          <a:r>
            <a:rPr lang="pt-BR"/>
            <a:t>Fatorial</a:t>
          </a:r>
          <a:endParaRPr lang="en-US"/>
        </a:p>
      </dgm:t>
    </dgm:pt>
    <dgm:pt modelId="{9A72EE40-93D2-47BB-93AD-3C4362F95627}" type="parTrans" cxnId="{D8152285-6771-4BC0-8B34-D5C11DF22A20}">
      <dgm:prSet/>
      <dgm:spPr/>
      <dgm:t>
        <a:bodyPr/>
        <a:lstStyle/>
        <a:p>
          <a:endParaRPr lang="en-US"/>
        </a:p>
      </dgm:t>
    </dgm:pt>
    <dgm:pt modelId="{D9FE6F32-FD90-41D8-9FE8-793078A6BD2B}" type="sibTrans" cxnId="{D8152285-6771-4BC0-8B34-D5C11DF22A20}">
      <dgm:prSet/>
      <dgm:spPr/>
      <dgm:t>
        <a:bodyPr/>
        <a:lstStyle/>
        <a:p>
          <a:endParaRPr lang="en-US"/>
        </a:p>
      </dgm:t>
    </dgm:pt>
    <dgm:pt modelId="{C6F666CD-6731-464F-A48F-7ED9433DE6BF}">
      <dgm:prSet/>
      <dgm:spPr/>
      <dgm:t>
        <a:bodyPr/>
        <a:lstStyle/>
        <a:p>
          <a:r>
            <a:rPr lang="pt-BR"/>
            <a:t>Fibonacci</a:t>
          </a:r>
          <a:endParaRPr lang="en-US"/>
        </a:p>
      </dgm:t>
    </dgm:pt>
    <dgm:pt modelId="{735EA96C-8393-47F0-A7AB-52A924CCF1AF}" type="parTrans" cxnId="{35C5D5A8-79E6-4893-A192-B39B87C7C80D}">
      <dgm:prSet/>
      <dgm:spPr/>
      <dgm:t>
        <a:bodyPr/>
        <a:lstStyle/>
        <a:p>
          <a:endParaRPr lang="en-US"/>
        </a:p>
      </dgm:t>
    </dgm:pt>
    <dgm:pt modelId="{D1CC0BBF-B104-4BC3-9420-F3550816E74A}" type="sibTrans" cxnId="{35C5D5A8-79E6-4893-A192-B39B87C7C80D}">
      <dgm:prSet/>
      <dgm:spPr/>
      <dgm:t>
        <a:bodyPr/>
        <a:lstStyle/>
        <a:p>
          <a:endParaRPr lang="en-US"/>
        </a:p>
      </dgm:t>
    </dgm:pt>
    <dgm:pt modelId="{EE155D24-C4BF-49E0-A53E-76D4A2B7B996}" type="pres">
      <dgm:prSet presAssocID="{7BEE621B-E0DD-4FD3-9C05-2552B7CF3D85}" presName="linear" presStyleCnt="0">
        <dgm:presLayoutVars>
          <dgm:dir/>
          <dgm:animLvl val="lvl"/>
          <dgm:resizeHandles val="exact"/>
        </dgm:presLayoutVars>
      </dgm:prSet>
      <dgm:spPr/>
    </dgm:pt>
    <dgm:pt modelId="{DCB93E69-7827-445A-AA43-0753CD46FF4E}" type="pres">
      <dgm:prSet presAssocID="{5FB7B917-7803-4086-852F-272D58C64094}" presName="parentLin" presStyleCnt="0"/>
      <dgm:spPr/>
    </dgm:pt>
    <dgm:pt modelId="{A8CF8EB4-B89A-4B03-A7E0-299B763100B7}" type="pres">
      <dgm:prSet presAssocID="{5FB7B917-7803-4086-852F-272D58C64094}" presName="parentLeftMargin" presStyleLbl="node1" presStyleIdx="0" presStyleCnt="2"/>
      <dgm:spPr/>
    </dgm:pt>
    <dgm:pt modelId="{E19ABC6D-FD67-42F9-AE62-72A2A8B3247A}" type="pres">
      <dgm:prSet presAssocID="{5FB7B917-7803-4086-852F-272D58C6409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F24D22B-CB50-4D09-AB49-1F1F6CE7E4DA}" type="pres">
      <dgm:prSet presAssocID="{5FB7B917-7803-4086-852F-272D58C64094}" presName="negativeSpace" presStyleCnt="0"/>
      <dgm:spPr/>
    </dgm:pt>
    <dgm:pt modelId="{4F7458A8-D6A7-43A3-A562-20A0E705666C}" type="pres">
      <dgm:prSet presAssocID="{5FB7B917-7803-4086-852F-272D58C64094}" presName="childText" presStyleLbl="conFgAcc1" presStyleIdx="0" presStyleCnt="2">
        <dgm:presLayoutVars>
          <dgm:bulletEnabled val="1"/>
        </dgm:presLayoutVars>
      </dgm:prSet>
      <dgm:spPr/>
    </dgm:pt>
    <dgm:pt modelId="{C7F93431-4F98-4532-AB88-289D1B6CAF4C}" type="pres">
      <dgm:prSet presAssocID="{D9FE6F32-FD90-41D8-9FE8-793078A6BD2B}" presName="spaceBetweenRectangles" presStyleCnt="0"/>
      <dgm:spPr/>
    </dgm:pt>
    <dgm:pt modelId="{01E01027-F03E-4C03-B648-CCE0CC30FB09}" type="pres">
      <dgm:prSet presAssocID="{C6F666CD-6731-464F-A48F-7ED9433DE6BF}" presName="parentLin" presStyleCnt="0"/>
      <dgm:spPr/>
    </dgm:pt>
    <dgm:pt modelId="{D93942D3-5A42-4ECF-9E5D-62F7DF1BCFD9}" type="pres">
      <dgm:prSet presAssocID="{C6F666CD-6731-464F-A48F-7ED9433DE6BF}" presName="parentLeftMargin" presStyleLbl="node1" presStyleIdx="0" presStyleCnt="2"/>
      <dgm:spPr/>
    </dgm:pt>
    <dgm:pt modelId="{34B2751F-8116-4E79-BBE9-AFC89AAEE678}" type="pres">
      <dgm:prSet presAssocID="{C6F666CD-6731-464F-A48F-7ED9433DE6B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C21CF22-0DEE-4E5C-BA47-ADF94377FD55}" type="pres">
      <dgm:prSet presAssocID="{C6F666CD-6731-464F-A48F-7ED9433DE6BF}" presName="negativeSpace" presStyleCnt="0"/>
      <dgm:spPr/>
    </dgm:pt>
    <dgm:pt modelId="{2C8D6C82-9868-4382-870E-4AF261C8C1F0}" type="pres">
      <dgm:prSet presAssocID="{C6F666CD-6731-464F-A48F-7ED9433DE6B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91F5BA4E-8A81-4450-A492-16E95DF6026D}" type="presOf" srcId="{5FB7B917-7803-4086-852F-272D58C64094}" destId="{E19ABC6D-FD67-42F9-AE62-72A2A8B3247A}" srcOrd="1" destOrd="0" presId="urn:microsoft.com/office/officeart/2005/8/layout/list1"/>
    <dgm:cxn modelId="{D8152285-6771-4BC0-8B34-D5C11DF22A20}" srcId="{7BEE621B-E0DD-4FD3-9C05-2552B7CF3D85}" destId="{5FB7B917-7803-4086-852F-272D58C64094}" srcOrd="0" destOrd="0" parTransId="{9A72EE40-93D2-47BB-93AD-3C4362F95627}" sibTransId="{D9FE6F32-FD90-41D8-9FE8-793078A6BD2B}"/>
    <dgm:cxn modelId="{35C5D5A8-79E6-4893-A192-B39B87C7C80D}" srcId="{7BEE621B-E0DD-4FD3-9C05-2552B7CF3D85}" destId="{C6F666CD-6731-464F-A48F-7ED9433DE6BF}" srcOrd="1" destOrd="0" parTransId="{735EA96C-8393-47F0-A7AB-52A924CCF1AF}" sibTransId="{D1CC0BBF-B104-4BC3-9420-F3550816E74A}"/>
    <dgm:cxn modelId="{1E3766B2-75F3-4948-AB92-D1E3EE54344B}" type="presOf" srcId="{5FB7B917-7803-4086-852F-272D58C64094}" destId="{A8CF8EB4-B89A-4B03-A7E0-299B763100B7}" srcOrd="0" destOrd="0" presId="urn:microsoft.com/office/officeart/2005/8/layout/list1"/>
    <dgm:cxn modelId="{9BA356C2-9E0D-486E-934A-29BE4C1D0B37}" type="presOf" srcId="{C6F666CD-6731-464F-A48F-7ED9433DE6BF}" destId="{34B2751F-8116-4E79-BBE9-AFC89AAEE678}" srcOrd="1" destOrd="0" presId="urn:microsoft.com/office/officeart/2005/8/layout/list1"/>
    <dgm:cxn modelId="{559120CE-BF9F-4617-877E-7B54B306CED0}" type="presOf" srcId="{7BEE621B-E0DD-4FD3-9C05-2552B7CF3D85}" destId="{EE155D24-C4BF-49E0-A53E-76D4A2B7B996}" srcOrd="0" destOrd="0" presId="urn:microsoft.com/office/officeart/2005/8/layout/list1"/>
    <dgm:cxn modelId="{A6388AF9-34D9-4213-9014-B7F5716D66BE}" type="presOf" srcId="{C6F666CD-6731-464F-A48F-7ED9433DE6BF}" destId="{D93942D3-5A42-4ECF-9E5D-62F7DF1BCFD9}" srcOrd="0" destOrd="0" presId="urn:microsoft.com/office/officeart/2005/8/layout/list1"/>
    <dgm:cxn modelId="{3B2D96F8-31F0-479A-92DA-6A7639D96F41}" type="presParOf" srcId="{EE155D24-C4BF-49E0-A53E-76D4A2B7B996}" destId="{DCB93E69-7827-445A-AA43-0753CD46FF4E}" srcOrd="0" destOrd="0" presId="urn:microsoft.com/office/officeart/2005/8/layout/list1"/>
    <dgm:cxn modelId="{9DBEEC40-0882-4847-B07D-64FD3A3FB052}" type="presParOf" srcId="{DCB93E69-7827-445A-AA43-0753CD46FF4E}" destId="{A8CF8EB4-B89A-4B03-A7E0-299B763100B7}" srcOrd="0" destOrd="0" presId="urn:microsoft.com/office/officeart/2005/8/layout/list1"/>
    <dgm:cxn modelId="{9D9FB5C8-E614-4ACA-97E6-20C41B3B81AC}" type="presParOf" srcId="{DCB93E69-7827-445A-AA43-0753CD46FF4E}" destId="{E19ABC6D-FD67-42F9-AE62-72A2A8B3247A}" srcOrd="1" destOrd="0" presId="urn:microsoft.com/office/officeart/2005/8/layout/list1"/>
    <dgm:cxn modelId="{E486C773-84D6-4070-ABDD-2859E204A46B}" type="presParOf" srcId="{EE155D24-C4BF-49E0-A53E-76D4A2B7B996}" destId="{0F24D22B-CB50-4D09-AB49-1F1F6CE7E4DA}" srcOrd="1" destOrd="0" presId="urn:microsoft.com/office/officeart/2005/8/layout/list1"/>
    <dgm:cxn modelId="{06A96E68-D273-4667-9657-84E5B0BEA119}" type="presParOf" srcId="{EE155D24-C4BF-49E0-A53E-76D4A2B7B996}" destId="{4F7458A8-D6A7-43A3-A562-20A0E705666C}" srcOrd="2" destOrd="0" presId="urn:microsoft.com/office/officeart/2005/8/layout/list1"/>
    <dgm:cxn modelId="{16A57D6D-4DC7-4D59-9768-9E24D2EF30AE}" type="presParOf" srcId="{EE155D24-C4BF-49E0-A53E-76D4A2B7B996}" destId="{C7F93431-4F98-4532-AB88-289D1B6CAF4C}" srcOrd="3" destOrd="0" presId="urn:microsoft.com/office/officeart/2005/8/layout/list1"/>
    <dgm:cxn modelId="{3FDD75D1-B9F5-4621-8078-3EA9486C240B}" type="presParOf" srcId="{EE155D24-C4BF-49E0-A53E-76D4A2B7B996}" destId="{01E01027-F03E-4C03-B648-CCE0CC30FB09}" srcOrd="4" destOrd="0" presId="urn:microsoft.com/office/officeart/2005/8/layout/list1"/>
    <dgm:cxn modelId="{1EC0F2F1-B4FB-4EA3-BD89-F38263E5C83C}" type="presParOf" srcId="{01E01027-F03E-4C03-B648-CCE0CC30FB09}" destId="{D93942D3-5A42-4ECF-9E5D-62F7DF1BCFD9}" srcOrd="0" destOrd="0" presId="urn:microsoft.com/office/officeart/2005/8/layout/list1"/>
    <dgm:cxn modelId="{6B55086C-1693-4241-8ED2-E47ADD652E95}" type="presParOf" srcId="{01E01027-F03E-4C03-B648-CCE0CC30FB09}" destId="{34B2751F-8116-4E79-BBE9-AFC89AAEE678}" srcOrd="1" destOrd="0" presId="urn:microsoft.com/office/officeart/2005/8/layout/list1"/>
    <dgm:cxn modelId="{9961B2EB-53B6-4C2D-A25B-B43BE15A944E}" type="presParOf" srcId="{EE155D24-C4BF-49E0-A53E-76D4A2B7B996}" destId="{4C21CF22-0DEE-4E5C-BA47-ADF94377FD55}" srcOrd="5" destOrd="0" presId="urn:microsoft.com/office/officeart/2005/8/layout/list1"/>
    <dgm:cxn modelId="{F459A9A2-0DAA-43FC-9AD8-20DABE8CF1A8}" type="presParOf" srcId="{EE155D24-C4BF-49E0-A53E-76D4A2B7B996}" destId="{2C8D6C82-9868-4382-870E-4AF261C8C1F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7458A8-D6A7-43A3-A562-20A0E705666C}">
      <dsp:nvSpPr>
        <dsp:cNvPr id="0" name=""/>
        <dsp:cNvSpPr/>
      </dsp:nvSpPr>
      <dsp:spPr>
        <a:xfrm>
          <a:off x="0" y="969259"/>
          <a:ext cx="6666833" cy="158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9ABC6D-FD67-42F9-AE62-72A2A8B3247A}">
      <dsp:nvSpPr>
        <dsp:cNvPr id="0" name=""/>
        <dsp:cNvSpPr/>
      </dsp:nvSpPr>
      <dsp:spPr>
        <a:xfrm>
          <a:off x="333341" y="39379"/>
          <a:ext cx="4666783" cy="18597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300" kern="1200"/>
            <a:t>Fatorial</a:t>
          </a:r>
          <a:endParaRPr lang="en-US" sz="6300" kern="1200"/>
        </a:p>
      </dsp:txBody>
      <dsp:txXfrm>
        <a:off x="424127" y="130165"/>
        <a:ext cx="4485211" cy="1678188"/>
      </dsp:txXfrm>
    </dsp:sp>
    <dsp:sp modelId="{2C8D6C82-9868-4382-870E-4AF261C8C1F0}">
      <dsp:nvSpPr>
        <dsp:cNvPr id="0" name=""/>
        <dsp:cNvSpPr/>
      </dsp:nvSpPr>
      <dsp:spPr>
        <a:xfrm>
          <a:off x="0" y="3826940"/>
          <a:ext cx="6666833" cy="158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2751F-8116-4E79-BBE9-AFC89AAEE678}">
      <dsp:nvSpPr>
        <dsp:cNvPr id="0" name=""/>
        <dsp:cNvSpPr/>
      </dsp:nvSpPr>
      <dsp:spPr>
        <a:xfrm>
          <a:off x="333341" y="2897059"/>
          <a:ext cx="4666783" cy="18597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300" kern="1200"/>
            <a:t>Fibonacci</a:t>
          </a:r>
          <a:endParaRPr lang="en-US" sz="6300" kern="1200"/>
        </a:p>
      </dsp:txBody>
      <dsp:txXfrm>
        <a:off x="424127" y="2987845"/>
        <a:ext cx="4485211" cy="16781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18FF67-95DE-330C-B9E4-DDA49DA84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A87929-BDBF-5921-2DDE-045826838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B9C359-3389-78F0-FC69-3C8644E3E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7C305-352A-4F6C-8B32-D000FB588FCA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74F845-6EAD-E8A7-4C50-FB7DF0985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220DD6-1F2A-0DD7-6104-BE7D3F99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F0BB-F6E0-4904-B37A-FBAEED115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7950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12015-189B-D5F3-FF4A-45DFBCF74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F1018F-DD48-22EE-864F-09E716863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1915B0-5CE8-9AE3-2D8F-E7BE029DE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7C305-352A-4F6C-8B32-D000FB588FCA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C3C538-1E43-A931-4529-D802CD6C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2A47C2-2BAB-5BB9-DD98-BE4B452D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F0BB-F6E0-4904-B37A-FBAEED115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3662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34A4E-CF3B-1A22-D23F-E2771C9A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70BA71-FD11-D4E3-BDFA-C8FDA5471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845529-B236-8C53-7FA8-0E18CF0C7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7C305-352A-4F6C-8B32-D000FB588FCA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D136DE-BD7B-E335-9BFA-B54C2346B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45A78C-6E31-1889-14AB-0F5A126C4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F0BB-F6E0-4904-B37A-FBAEED115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062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CB395-0A15-8F47-E2F4-4CB2CC94D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04CC6E-B00D-63D1-8C7F-D18B385443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1482F9-CD17-7AF7-C87C-72F2DF2A5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6D6D69-B0AA-C11A-7610-502FDE170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7C305-352A-4F6C-8B32-D000FB588FCA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31A5FD-E3C4-9558-56DC-EC38C6A06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341412-0DF0-780C-56A8-2CC508902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F0BB-F6E0-4904-B37A-FBAEED115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861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508FBA-6A2F-B97B-D2B2-4141D065B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9C2582-2A7A-C65A-CF98-76D6EA58A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11A9217-0997-1C42-3ED0-C1235EE3D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2F6EF90-8425-6AD8-8585-50EC0F1806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517CEFC-DE0B-23A9-F07A-6021ADFBC9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C0156E7-B8D7-62C3-97C0-92D32066C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7C305-352A-4F6C-8B32-D000FB588FCA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263BD6A-3A3B-4333-C300-F232448C0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1AADC02-895F-52CD-A697-449D0198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F0BB-F6E0-4904-B37A-FBAEED115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9466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A67D91-120B-FF1D-815F-31939C43B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8D8C5DC-F21E-7C3B-9DBB-07CA75FF7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7C305-352A-4F6C-8B32-D000FB588FCA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DCBBDEC-F04B-C97F-C3BA-519B95CF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DD0FD82-1984-FB19-0B5B-1AC63FC5F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F0BB-F6E0-4904-B37A-FBAEED115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060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1D97716-0A87-0323-5DC4-F4B2EBE2A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7C305-352A-4F6C-8B32-D000FB588FCA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77CA493-E512-66CB-97A0-9836E92D3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4B729D3-D420-5B4C-01CC-D1EA46C09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F0BB-F6E0-4904-B37A-FBAEED115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5791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BD67E7-3D6B-1602-6A8A-E53F938FB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BA81D9-2770-CBD5-FEB3-6591E7029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485227-8267-8561-79E1-7AF2851D6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683243-CF34-7AA7-EC3A-4478457D1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7C305-352A-4F6C-8B32-D000FB588FCA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F2B270-D46C-83FD-D71D-4CC8066EB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A8FD0C8-F1C9-236D-3200-7166E3065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F0BB-F6E0-4904-B37A-FBAEED115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208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DA9B2-4674-E713-F456-88A03266C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3013379-1231-C8BD-51DA-C661D5AEFA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E1A278-6F6B-3765-B3D7-B8EA4C393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354616E-1091-DC66-82AB-D960C61B4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7C305-352A-4F6C-8B32-D000FB588FCA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56CAAF-7BE3-C5EC-2D09-EADCCC12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5FA959-4D9B-B9F0-509D-BD113CDD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F0BB-F6E0-4904-B37A-FBAEED115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396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1F525-5F4F-9438-7658-B0C76CE2F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C6E9CD-FFD4-C140-F42F-102687DD5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B61123-8503-1654-D295-7FFAFDA09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7C305-352A-4F6C-8B32-D000FB588FCA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CD8076-874B-7388-1F68-A52EF62B7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28D3DF-5234-380A-EDA1-1D9205926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F0BB-F6E0-4904-B37A-FBAEED115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5316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81B3B5-9DC6-C1F3-3078-CE0650CBA7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975AD6E-38C7-3ADC-8EE4-394A9E9FF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05357B-4808-95FB-4D7D-E934620A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7C305-352A-4F6C-8B32-D000FB588FCA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D0A7D2-F495-3150-14FF-8005C84A6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A31075-D045-142F-27DB-D407031E2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F0BB-F6E0-4904-B37A-FBAEED115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5779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DB434CC-A495-AFE6-E9C1-E9ACCBAD3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4C039C-34F8-D890-CB92-D20B1D20D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169498-6730-AAD6-AA2C-7816C2C296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7C305-352A-4F6C-8B32-D000FB588FCA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A2AFD3-23D5-E934-08A4-F7AEB49D8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60ABDA-7F38-A299-EC6F-131E8CD1B3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D2F0BB-F6E0-4904-B37A-FBAEED115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991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30C2B94-0F39-4DA6-75D3-D0C25CF19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8" y="666351"/>
            <a:ext cx="10558405" cy="3044335"/>
          </a:xfrm>
        </p:spPr>
        <p:txBody>
          <a:bodyPr anchor="b">
            <a:normAutofit/>
          </a:bodyPr>
          <a:lstStyle/>
          <a:p>
            <a:r>
              <a:rPr lang="pt-BR" sz="5400" dirty="0">
                <a:solidFill>
                  <a:schemeClr val="bg1"/>
                </a:solidFill>
              </a:rPr>
              <a:t>Recursividade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2BD5FA-95F1-7176-520E-BF3B4ED27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8" y="3866064"/>
            <a:ext cx="10558405" cy="2234485"/>
          </a:xfrm>
        </p:spPr>
        <p:txBody>
          <a:bodyPr anchor="t">
            <a:normAutofit/>
          </a:bodyPr>
          <a:lstStyle/>
          <a:p>
            <a:r>
              <a:rPr lang="pt-BR" sz="4000" dirty="0">
                <a:solidFill>
                  <a:schemeClr val="bg1"/>
                </a:solidFill>
              </a:rPr>
              <a:t>Estrutura de Dados Avançada</a:t>
            </a:r>
          </a:p>
        </p:txBody>
      </p:sp>
    </p:spTree>
    <p:extLst>
      <p:ext uri="{BB962C8B-B14F-4D97-AF65-F5344CB8AC3E}">
        <p14:creationId xmlns:p14="http://schemas.microsoft.com/office/powerpoint/2010/main" val="100125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3DF545E-C933-9167-3040-3D04085A2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1014574"/>
            <a:ext cx="9725730" cy="22267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Objetivo de aprendizagem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BF3873-4C19-F383-4D1A-FA6F43A17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708" y="3640633"/>
            <a:ext cx="9725730" cy="24872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4400" kern="1200" dirty="0" err="1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Reconhecer</a:t>
            </a:r>
            <a:r>
              <a:rPr lang="en-US" sz="44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4400" kern="1200" dirty="0" err="1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soluções</a:t>
            </a:r>
            <a:r>
              <a:rPr lang="en-US" sz="44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4400" kern="1200" dirty="0" err="1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baseadas</a:t>
            </a:r>
            <a:r>
              <a:rPr lang="en-US" sz="44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4400" kern="1200" dirty="0" err="1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44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4400" kern="1200" dirty="0" err="1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algoritmos</a:t>
            </a:r>
            <a:r>
              <a:rPr lang="en-US" sz="44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4400" kern="1200" dirty="0" err="1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recursivos</a:t>
            </a:r>
            <a:r>
              <a:rPr lang="en-US" sz="44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44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218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7FAFA4-8DCD-06BD-D26B-5F9EFECC4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016" y="905011"/>
            <a:ext cx="4589328" cy="1889135"/>
          </a:xfrm>
        </p:spPr>
        <p:txBody>
          <a:bodyPr anchor="b">
            <a:normAutofit/>
          </a:bodyPr>
          <a:lstStyle/>
          <a:p>
            <a:r>
              <a:rPr lang="pt-BR" sz="4800"/>
              <a:t>Recursividade (Recursão)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49B01BE-E067-6F23-1077-0EC92B5B2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07" y="1298801"/>
            <a:ext cx="5468347" cy="4251638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DFDC20-18C8-EE05-57E5-3C250FBF9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016" y="2965592"/>
            <a:ext cx="4589328" cy="2987397"/>
          </a:xfrm>
        </p:spPr>
        <p:txBody>
          <a:bodyPr>
            <a:normAutofit/>
          </a:bodyPr>
          <a:lstStyle/>
          <a:p>
            <a:r>
              <a:rPr lang="pt-BR" sz="3200" dirty="0"/>
              <a:t>A </a:t>
            </a:r>
            <a:r>
              <a:rPr lang="pt-BR" sz="3200" b="1" dirty="0"/>
              <a:t>recursividade</a:t>
            </a:r>
            <a:r>
              <a:rPr lang="pt-BR" sz="3200" dirty="0"/>
              <a:t> é uma técnica de programação onde uma função chama a si mesma para resolver um problema.</a:t>
            </a:r>
          </a:p>
        </p:txBody>
      </p:sp>
    </p:spTree>
    <p:extLst>
      <p:ext uri="{BB962C8B-B14F-4D97-AF65-F5344CB8AC3E}">
        <p14:creationId xmlns:p14="http://schemas.microsoft.com/office/powerpoint/2010/main" val="443712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8C3C13-5EDC-B75E-FCAE-899CA78CE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pt-BR" sz="4000">
                <a:solidFill>
                  <a:schemeClr val="bg1"/>
                </a:solidFill>
              </a:rPr>
              <a:t>Recursividade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476B4F-7428-6C42-FFF3-8A20496A7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pt-BR" sz="4000" b="0" i="0" dirty="0">
                <a:effectLst/>
                <a:latin typeface="Open Sans" panose="020B0606030504020204" pitchFamily="34" charset="0"/>
              </a:rPr>
              <a:t>A recursividade é uma técnica de programação que pode ser útil para resolver problemas que podem ser quebrados em subproblemas menores, cada um dos quais pode ser resolvido com uma chamada recursiva.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767922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03ECFD-0B91-57A9-888F-DE91BC614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pt-BR" sz="4000">
                <a:solidFill>
                  <a:schemeClr val="bg1"/>
                </a:solidFill>
              </a:rPr>
              <a:t>Estrutura de uma função recursiva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32B0D7-F298-C51A-F3DF-91743E25A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814" y="2217343"/>
            <a:ext cx="11482466" cy="4468270"/>
          </a:xfrm>
        </p:spPr>
        <p:txBody>
          <a:bodyPr>
            <a:normAutofit lnSpcReduction="10000"/>
          </a:bodyPr>
          <a:lstStyle/>
          <a:p>
            <a:pPr fontAlgn="base">
              <a:buFont typeface="+mj-lt"/>
              <a:buAutoNum type="arabicPeriod"/>
            </a:pPr>
            <a:r>
              <a:rPr lang="pt-BR" sz="3200" b="1" i="0" dirty="0">
                <a:effectLst/>
                <a:latin typeface="inherit"/>
              </a:rPr>
              <a:t>Caso base (âncora)</a:t>
            </a:r>
            <a:r>
              <a:rPr lang="pt-BR" sz="3200" b="0" i="0" dirty="0">
                <a:effectLst/>
                <a:latin typeface="Open Sans" panose="020B0606030504020204" pitchFamily="34" charset="0"/>
              </a:rPr>
              <a:t>: É uma condição especial que determina quando a recursão deve parar. Quando a condição do caso base é atendida, a função recursiva não faz mais chamadas a si mesma e retorna um resultado específico.</a:t>
            </a:r>
          </a:p>
          <a:p>
            <a:pPr fontAlgn="base">
              <a:buFont typeface="+mj-lt"/>
              <a:buAutoNum type="arabicPeriod"/>
            </a:pPr>
            <a:r>
              <a:rPr lang="pt-BR" sz="3200" b="1" i="0" dirty="0">
                <a:effectLst/>
                <a:latin typeface="inherit"/>
              </a:rPr>
              <a:t>Caso recursivo (</a:t>
            </a:r>
            <a:r>
              <a:rPr lang="pt-BR" sz="3200" b="1" dirty="0">
                <a:latin typeface="inherit"/>
              </a:rPr>
              <a:t>c</a:t>
            </a:r>
            <a:r>
              <a:rPr lang="pt-BR" sz="3200" b="1" i="0" dirty="0">
                <a:effectLst/>
                <a:latin typeface="inherit"/>
              </a:rPr>
              <a:t>hamada recursiva)</a:t>
            </a:r>
            <a:r>
              <a:rPr lang="pt-BR" sz="3200" b="0" i="0" dirty="0">
                <a:effectLst/>
                <a:latin typeface="Open Sans" panose="020B0606030504020204" pitchFamily="34" charset="0"/>
              </a:rPr>
              <a:t>: É o caso em que a função se chama novamente com um problema menor ou uma instância simplificada do problema original. A chamada recursiva permite que a função trabalhe em direção ao caso base, resolvendo os subproblemas até que o resultado final seja alcançado.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432692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3FBE6B-35B2-0870-344C-94B9C3E19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pt-BR" sz="4000"/>
              <a:t>Importância do Caso base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FD5224-EC4D-0786-334C-A662573D4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72" y="1526498"/>
            <a:ext cx="6061019" cy="3505200"/>
          </a:xfrm>
        </p:spPr>
        <p:txBody>
          <a:bodyPr>
            <a:noAutofit/>
          </a:bodyPr>
          <a:lstStyle/>
          <a:p>
            <a:r>
              <a:rPr lang="pt-BR" sz="3200" dirty="0">
                <a:solidFill>
                  <a:schemeClr val="tx1">
                    <a:alpha val="55000"/>
                  </a:schemeClr>
                </a:solidFill>
              </a:rPr>
              <a:t>O </a:t>
            </a:r>
            <a:r>
              <a:rPr lang="pt-BR" sz="3200" b="1" dirty="0">
                <a:solidFill>
                  <a:schemeClr val="tx1">
                    <a:alpha val="55000"/>
                  </a:schemeClr>
                </a:solidFill>
              </a:rPr>
              <a:t>caso base</a:t>
            </a:r>
            <a:r>
              <a:rPr lang="pt-BR" sz="3200" dirty="0">
                <a:solidFill>
                  <a:schemeClr val="tx1">
                    <a:alpha val="55000"/>
                  </a:schemeClr>
                </a:solidFill>
              </a:rPr>
              <a:t> é fundamental para evitar uma recursão infinita. Se não houver uma condição que termine a recursão, a função continuará chamando a si mesma indefinidamente, resultando em um erro de </a:t>
            </a:r>
            <a:r>
              <a:rPr lang="pt-BR" sz="3200" b="1" dirty="0">
                <a:solidFill>
                  <a:schemeClr val="tx1">
                    <a:alpha val="55000"/>
                  </a:schemeClr>
                </a:solidFill>
              </a:rPr>
              <a:t>estouro de pilha (</a:t>
            </a:r>
            <a:r>
              <a:rPr lang="pt-BR" sz="3200" b="1" dirty="0" err="1">
                <a:solidFill>
                  <a:schemeClr val="tx1">
                    <a:alpha val="55000"/>
                  </a:schemeClr>
                </a:solidFill>
              </a:rPr>
              <a:t>stack</a:t>
            </a:r>
            <a:r>
              <a:rPr lang="pt-BR" sz="3200" b="1" dirty="0">
                <a:solidFill>
                  <a:schemeClr val="tx1">
                    <a:alpha val="55000"/>
                  </a:schemeClr>
                </a:solidFill>
              </a:rPr>
              <a:t> overflow)</a:t>
            </a:r>
            <a:r>
              <a:rPr lang="pt-BR" sz="3200" dirty="0">
                <a:solidFill>
                  <a:schemeClr val="tx1">
                    <a:alpha val="5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175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DB3DF4C-030C-F99D-3E07-4A0314215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pt-BR" sz="4800">
                <a:solidFill>
                  <a:schemeClr val="bg1"/>
                </a:solidFill>
              </a:rPr>
              <a:t>Recursão Direta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5770D5-C305-FD92-6F19-9FB378321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5407800" cy="5340097"/>
          </a:xfrm>
        </p:spPr>
        <p:txBody>
          <a:bodyPr anchor="ctr">
            <a:normAutofit/>
          </a:bodyPr>
          <a:lstStyle/>
          <a:p>
            <a:r>
              <a:rPr lang="pt-BR" sz="3200" b="0" i="0" dirty="0">
                <a:solidFill>
                  <a:schemeClr val="tx2"/>
                </a:solidFill>
                <a:effectLst/>
                <a:latin typeface="Open Sans" panose="020B0606030504020204" pitchFamily="34" charset="0"/>
              </a:rPr>
              <a:t>Em uma </a:t>
            </a:r>
            <a:r>
              <a:rPr lang="pt-BR" sz="3200" b="1" i="0" dirty="0">
                <a:solidFill>
                  <a:schemeClr val="tx2"/>
                </a:solidFill>
                <a:effectLst/>
                <a:latin typeface="Open Sans" panose="020B0606030504020204" pitchFamily="34" charset="0"/>
              </a:rPr>
              <a:t>recursão direta</a:t>
            </a:r>
            <a:r>
              <a:rPr lang="pt-BR" sz="3200" b="0" i="0" dirty="0">
                <a:solidFill>
                  <a:schemeClr val="tx2"/>
                </a:solidFill>
                <a:effectLst/>
                <a:latin typeface="Open Sans" panose="020B0606030504020204" pitchFamily="34" charset="0"/>
              </a:rPr>
              <a:t>, uma função f(A) chama a si própria diretamente – f(A) chama f(A), em um passo recursivo único.</a:t>
            </a:r>
            <a:endParaRPr lang="pt-BR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858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8A7A63F-052F-A18E-5BAF-27DC3F59F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pt-BR" sz="4800">
                <a:solidFill>
                  <a:schemeClr val="bg1"/>
                </a:solidFill>
              </a:rPr>
              <a:t>Recursão Indireta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435F30-A890-BA13-2913-0B6DA053D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09" y="841247"/>
            <a:ext cx="5332849" cy="5340097"/>
          </a:xfrm>
        </p:spPr>
        <p:txBody>
          <a:bodyPr anchor="ctr">
            <a:noAutofit/>
          </a:bodyPr>
          <a:lstStyle/>
          <a:p>
            <a:r>
              <a:rPr lang="pt-BR" sz="3200" b="0" i="0" dirty="0">
                <a:solidFill>
                  <a:schemeClr val="tx2"/>
                </a:solidFill>
                <a:effectLst/>
                <a:latin typeface="Open Sans" panose="020B0606030504020204" pitchFamily="34" charset="0"/>
              </a:rPr>
              <a:t>Já a </a:t>
            </a:r>
            <a:r>
              <a:rPr lang="pt-BR" sz="3200" b="1" i="0" dirty="0">
                <a:solidFill>
                  <a:schemeClr val="tx2"/>
                </a:solidFill>
                <a:effectLst/>
                <a:latin typeface="Open Sans" panose="020B0606030504020204" pitchFamily="34" charset="0"/>
              </a:rPr>
              <a:t>recursividade indireta </a:t>
            </a:r>
            <a:r>
              <a:rPr lang="pt-BR" sz="3200" b="0" i="0" dirty="0">
                <a:solidFill>
                  <a:schemeClr val="tx2"/>
                </a:solidFill>
                <a:effectLst/>
                <a:latin typeface="Open Sans" panose="020B0606030504020204" pitchFamily="34" charset="0"/>
              </a:rPr>
              <a:t>consiste em uma função f(A) que chama uma função diferente f(B), que por sua vez chama f(A) novamente, Ou seja, é um processo recursivo de dois passos, onde a função original chama outra função que por sua vez chama a função original novamente.</a:t>
            </a:r>
            <a:endParaRPr lang="pt-BR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754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649BCC-52AF-167B-62B8-6CF48C95F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pt-BR" sz="4000">
                <a:solidFill>
                  <a:srgbClr val="FFFFFF"/>
                </a:solidFill>
              </a:rPr>
              <a:t>Exemplos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830D0EB8-7286-5213-C7FD-0B27D59388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04244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4598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3EA052-AF6B-4E0A-D0AC-DCA6F7162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pt-BR" sz="4000">
                <a:solidFill>
                  <a:schemeClr val="bg1"/>
                </a:solidFill>
              </a:rPr>
              <a:t>Problemas com recursividade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F9B0E0-5DFF-1ACE-DA06-8B64E815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pt-BR" sz="2200" b="0" i="0" dirty="0">
                <a:effectLst/>
                <a:latin typeface="Open Sans" panose="020B0606030504020204" pitchFamily="34" charset="0"/>
              </a:rPr>
              <a:t>Escopo de variáveis: Quando uma função é chamada recursivamente, ela cria uma nova cópia de seu escopo de variáveis. Isso pode levar a problemas se as variáveis no escopo forem modificadas dentro da função.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pt-BR" sz="2200" b="0" i="0" dirty="0">
                <a:effectLst/>
                <a:latin typeface="Open Sans" panose="020B0606030504020204" pitchFamily="34" charset="0"/>
              </a:rPr>
              <a:t>Eficiência: Os algoritmos recursivos podem ser muito ineficientes, especialmente para grandes problemas. Isso ocorre porque cada chamada recursiva cria uma nova pilha de chamadas. A pilha de chamadas pode crescer rapidamente e levar a problemas de memória.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pt-BR" sz="2200" b="0" i="0" dirty="0">
                <a:effectLst/>
                <a:latin typeface="Open Sans" panose="020B0606030504020204" pitchFamily="34" charset="0"/>
              </a:rPr>
              <a:t>Dificuldade de depuração: Os algoritmos recursivos podem ser difíceis de depurar, pois podem ser difíceis de acompanhar o fluxo de controle da função.</a:t>
            </a:r>
          </a:p>
          <a:p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641859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9FD617-0FF4-B202-1337-804446D58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br>
              <a:rPr lang="pt-BR" sz="4000" dirty="0"/>
            </a:br>
            <a:br>
              <a:rPr lang="pt-BR" sz="4000" dirty="0"/>
            </a:br>
            <a:r>
              <a:rPr lang="pt-BR" sz="4000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0FAABB-B6FD-1F16-C2C5-ACF0C5FBC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4" y="1676400"/>
            <a:ext cx="5638796" cy="3505200"/>
          </a:xfrm>
        </p:spPr>
        <p:txBody>
          <a:bodyPr>
            <a:normAutofit/>
          </a:bodyPr>
          <a:lstStyle/>
          <a:p>
            <a:endParaRPr lang="pt-BR" sz="2400" dirty="0">
              <a:solidFill>
                <a:schemeClr val="tx1">
                  <a:alpha val="55000"/>
                </a:schemeClr>
              </a:solidFill>
            </a:endParaRPr>
          </a:p>
          <a:p>
            <a:endParaRPr lang="pt-BR" sz="2400" dirty="0">
              <a:solidFill>
                <a:schemeClr val="tx1">
                  <a:alpha val="55000"/>
                </a:schemeClr>
              </a:solidFill>
            </a:endParaRPr>
          </a:p>
          <a:p>
            <a:r>
              <a:rPr lang="pt-BR" sz="4000" dirty="0">
                <a:solidFill>
                  <a:schemeClr val="tx1">
                    <a:alpha val="55000"/>
                  </a:schemeClr>
                </a:solidFill>
              </a:rPr>
              <a:t>Lista de Exercícios (BB)</a:t>
            </a:r>
          </a:p>
        </p:txBody>
      </p:sp>
    </p:spTree>
    <p:extLst>
      <p:ext uri="{BB962C8B-B14F-4D97-AF65-F5344CB8AC3E}">
        <p14:creationId xmlns:p14="http://schemas.microsoft.com/office/powerpoint/2010/main" val="1398003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436</Words>
  <Application>Microsoft Office PowerPoint</Application>
  <PresentationFormat>Widescreen</PresentationFormat>
  <Paragraphs>28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inherit</vt:lpstr>
      <vt:lpstr>Open Sans</vt:lpstr>
      <vt:lpstr>Tema do Office</vt:lpstr>
      <vt:lpstr>Recursividade</vt:lpstr>
      <vt:lpstr>Objetivo de aprendizagem</vt:lpstr>
      <vt:lpstr>Recursividade (Recursão)</vt:lpstr>
      <vt:lpstr>Recursividade</vt:lpstr>
      <vt:lpstr>Estrutura de uma função recursiva</vt:lpstr>
      <vt:lpstr>Importância do Caso base</vt:lpstr>
      <vt:lpstr>Recursão Direta</vt:lpstr>
      <vt:lpstr>Recursão Indireta</vt:lpstr>
      <vt:lpstr>Exemplos</vt:lpstr>
      <vt:lpstr>Problemas com recursividade</vt:lpstr>
      <vt:lpstr>  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Vanessa Ribeiro</dc:creator>
  <cp:lastModifiedBy>Vanessa Ribeiro</cp:lastModifiedBy>
  <cp:revision>10</cp:revision>
  <dcterms:created xsi:type="dcterms:W3CDTF">2025-02-13T00:24:02Z</dcterms:created>
  <dcterms:modified xsi:type="dcterms:W3CDTF">2025-02-16T15:56:35Z</dcterms:modified>
</cp:coreProperties>
</file>